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87B965-CDF1-24BA-5C2E-1643D916E0E3}" name="Snehal Naik (IND_PUN)" initials="" userId="S::Snehal.Naik@opustechglobal.com::00ed4917-a436-4d2d-acb9-a077af112b8b" providerId="AD"/>
  <p188:author id="{4CFF1B93-14F7-1154-525B-0C2272C35765}" name="Aayush Agashe (IND_PUN)" initials="A(" userId="S::aayush.agashe@opustechglobal.com::d658e2f1-d12e-483e-be0c-b3abe4adf7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801CD-E00D-C9F1-14BF-05BCA32950EA}" v="7" dt="2026-05-25T08:52:14.763"/>
    <p1510:client id="{DA8B56C1-DAE1-B83A-031A-0C95AA4A4C5F}" v="66" dt="2026-05-27T06:05:56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17355A-B0FB-4F2F-9E51-A7074FBDEE5C}" authorId="{4CFF1B93-14F7-1154-525B-0C2272C35765}" created="2026-05-22T05:05:41.825" startDate="2026-05-22T05:05:41.825" dueDate="2026-05-22T05:05:41.825" assignedTo="{5787B965-CDF1-24BA-5C2E-1643D916E0E3}" title="@Snehal Naik (IND_PUN) Please add Gaps in the four boxes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[@Snehal Naik (IND_PUN)] Please add Gaps in the four boxes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22T05:05:41.825" id="{FBC7AADE-B4DD-40E2-80FF-5915FCF37086}">
              <p228:atrbtn authorId="{4CFF1B93-14F7-1154-525B-0C2272C35765}"/>
              <p228:anchr>
                <p228:comment id="{2317355A-B0FB-4F2F-9E51-A7074FBDEE5C}"/>
              </p228:anchr>
              <p228:add/>
            </p228:event>
            <p228:event time="2026-05-22T05:05:41.825" id="{1C4DC452-DFCF-4958-8C91-9B8ABE867E51}">
              <p228:atrbtn authorId="{4CFF1B93-14F7-1154-525B-0C2272C35765}"/>
              <p228:anchr>
                <p228:comment id="{2317355A-B0FB-4F2F-9E51-A7074FBDEE5C}"/>
              </p228:anchr>
              <p228:asgn authorId="{5787B965-CDF1-24BA-5C2E-1643D916E0E3}"/>
            </p228:event>
            <p228:event time="2026-05-22T05:05:41.825" id="{0568CA49-D66F-4ED1-AD09-BA0BBF5B6258}">
              <p228:atrbtn authorId="{4CFF1B93-14F7-1154-525B-0C2272C35765}"/>
              <p228:anchr>
                <p228:comment id="{2317355A-B0FB-4F2F-9E51-A7074FBDEE5C}"/>
              </p228:anchr>
              <p228:title val="@Snehal Naik (IND_PUN) Please add Gaps in the four boxes"/>
            </p228:event>
            <p228:event time="2026-05-22T05:05:41.825" id="{0B7F5BE1-B59A-49B4-993F-776C955F50F9}">
              <p228:atrbtn authorId="{4CFF1B93-14F7-1154-525B-0C2272C35765}"/>
              <p228:anchr>
                <p228:comment id="{2317355A-B0FB-4F2F-9E51-A7074FBDEE5C}"/>
              </p228:anchr>
              <p228:date stDt="2026-05-22T05:05:41.825" endDt="2026-05-22T05:05:41.825"/>
            </p228:event>
          </p228:history>
        </p228:taskDetails>
      </p:ext>
    </p188:extLst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F19DA3-F936-4EF1-9A30-D973DFDD8D50}" authorId="{4CFF1B93-14F7-1154-525B-0C2272C35765}" created="2026-05-22T05:09:32.965" startDate="2026-05-22T05:09:32.965" dueDate="2026-05-22T05:09:32.965" assignedTo="{5787B965-CDF1-24BA-5C2E-1643D916E0E3}" title="@Snehal Naik (IND_PUN) Please update the second Q to be a realistic Questions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[@Snehal Naik (IND_PUN)] Please update the second Q to be a realistic Questions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22T05:09:32.965" id="{BBE7C791-EB10-4B5F-A5CE-ACE6D3B2C4DB}">
              <p228:atrbtn authorId="{4CFF1B93-14F7-1154-525B-0C2272C35765}"/>
              <p228:anchr>
                <p228:comment id="{03F19DA3-F936-4EF1-9A30-D973DFDD8D50}"/>
              </p228:anchr>
              <p228:add/>
            </p228:event>
            <p228:event time="2026-05-22T05:09:32.965" id="{4FCF5638-620D-4B9A-9D97-EF86912729F8}">
              <p228:atrbtn authorId="{4CFF1B93-14F7-1154-525B-0C2272C35765}"/>
              <p228:anchr>
                <p228:comment id="{03F19DA3-F936-4EF1-9A30-D973DFDD8D50}"/>
              </p228:anchr>
              <p228:asgn authorId="{5787B965-CDF1-24BA-5C2E-1643D916E0E3}"/>
            </p228:event>
            <p228:event time="2026-05-22T05:09:32.965" id="{D271E68A-4874-4F89-82A7-985497475365}">
              <p228:atrbtn authorId="{4CFF1B93-14F7-1154-525B-0C2272C35765}"/>
              <p228:anchr>
                <p228:comment id="{03F19DA3-F936-4EF1-9A30-D973DFDD8D50}"/>
              </p228:anchr>
              <p228:title val="@Snehal Naik (IND_PUN) Please update the second Q to be a realistic Questions"/>
            </p228:event>
            <p228:event time="2026-05-22T05:09:32.965" id="{558B4BE7-5D86-4651-905B-AC2F4BF06D12}">
              <p228:atrbtn authorId="{4CFF1B93-14F7-1154-525B-0C2272C35765}"/>
              <p228:anchr>
                <p228:comment id="{03F19DA3-F936-4EF1-9A30-D973DFDD8D50}"/>
              </p228:anchr>
              <p228:date stDt="2026-05-22T05:09:32.965" endDt="2026-05-22T05:09:32.965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57B9-E247-459F-8F6F-D74901FA0BA9}" type="datetimeFigureOut"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3F526-83EA-43C6-9A62-0EA87E8DB5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83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AE4D-0F5B-DEEE-6C91-6FCD807C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4EDD6-50B3-A893-73B0-56717C498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AE108-2930-99CA-D967-FEA6804AC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48E24-DCD3-0AFC-974F-6D0D81860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2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843534"/>
            <a:ext cx="8277606" cy="2379726"/>
          </a:xfrm>
        </p:spPr>
        <p:txBody>
          <a:bodyPr anchor="b">
            <a:normAutofit/>
          </a:bodyPr>
          <a:lstStyle>
            <a:lvl1pPr algn="l">
              <a:defRPr sz="142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3545586"/>
            <a:ext cx="8277606" cy="1110996"/>
          </a:xfrm>
        </p:spPr>
        <p:txBody>
          <a:bodyPr>
            <a:normAutofit/>
          </a:bodyPr>
          <a:lstStyle>
            <a:lvl1pPr marL="0" indent="0" algn="l">
              <a:buNone/>
              <a:defRPr sz="4978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4767263"/>
            <a:ext cx="2057400" cy="273844"/>
          </a:xfrm>
        </p:spPr>
        <p:txBody>
          <a:bodyPr/>
          <a:lstStyle/>
          <a:p>
            <a:fld id="{965A7A7B-B71A-428D-833F-0F3507A6DB1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43158" y="260093"/>
            <a:ext cx="109728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3375901"/>
            <a:ext cx="8276022" cy="137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5951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858518"/>
            <a:ext cx="7626096" cy="27706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5CF65307-640F-4AE7-B0BE-50C709AD86C5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3736066"/>
            <a:ext cx="8351217" cy="61722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3838936"/>
            <a:ext cx="109728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480060"/>
            <a:ext cx="8167878" cy="3086100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3826764"/>
            <a:ext cx="7955280" cy="438912"/>
          </a:xfrm>
        </p:spPr>
        <p:txBody>
          <a:bodyPr anchor="ctr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02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1858518"/>
            <a:ext cx="3703320" cy="27706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1858518"/>
            <a:ext cx="3703320" cy="27706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202278E8-5F4B-47D5-A617-8CCDF75D6A3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42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2402766"/>
            <a:ext cx="3703320" cy="222638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2402766"/>
            <a:ext cx="3703320" cy="2226383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16AAFA52-7A21-407F-8339-40DF182D746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20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150144"/>
            <a:ext cx="8187797" cy="2843213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228849"/>
            <a:ext cx="96012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453896"/>
            <a:ext cx="7632954" cy="2242566"/>
          </a:xfrm>
        </p:spPr>
        <p:txBody>
          <a:bodyPr>
            <a:normAutofit/>
          </a:bodyPr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44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282446"/>
            <a:ext cx="5047488" cy="3072384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1750"/>
            <a:ext cx="2324862" cy="1549908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E6483A1-31A8-47A2-AB0A-53A7803D5EB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23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870966"/>
            <a:ext cx="5047488" cy="3483864"/>
          </a:xfrm>
        </p:spPr>
        <p:txBody>
          <a:bodyPr anchor="t">
            <a:normAutofit/>
          </a:bodyPr>
          <a:lstStyle>
            <a:lvl1pPr marL="0" indent="0">
              <a:buNone/>
              <a:defRPr sz="4978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8608"/>
            <a:ext cx="2324862" cy="154305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D8810B9-2C7C-4CAF-99E2-617AE20BA33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3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5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70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237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418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8/10/relationships/comments" Target="../comments/modernComment_104_0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PAYMENTS · BANKING · FINSERV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85800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AI-Powered</a:t>
            </a:r>
            <a:endParaRPr lang="en-US" sz="4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Self-Serve Analytics</a:t>
            </a:r>
            <a:endParaRPr lang="en-US" sz="48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Decision Latency from Days to Seconds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373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 analytics using AI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FA7060F-AE58-D573-1942-A227F0FE9459}"/>
              </a:ext>
            </a:extLst>
          </p:cNvPr>
          <p:cNvSpPr/>
          <p:nvPr/>
        </p:nvSpPr>
        <p:spPr>
          <a:xfrm>
            <a:off x="6630423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Aayush · Badal · Snehal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9711"/>
            <a:ext cx="8223527" cy="11062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Businesses generate massive data but rely on centralized analytics teams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2549" y="161448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29" y="1751647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2549" y="2117407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92549" y="2620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189" y="161448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069" y="1751647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27189" y="2117407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227189" y="2620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 Owned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61829" y="1614488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1751647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61829" y="2117407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6061829" y="2620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Need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cannot explore data independently — they wait in line for analyst support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7904" y="539711"/>
            <a:ext cx="8354614" cy="740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analytics slows decision-making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6267" y="1828800"/>
            <a:ext cx="1459938" cy="164455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705" y="1845860"/>
            <a:ext cx="1351850" cy="111604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23705" y="2907655"/>
            <a:ext cx="13518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8139" y="1828800"/>
            <a:ext cx="1414846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092" y="1928770"/>
            <a:ext cx="28485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18647" y="2220150"/>
            <a:ext cx="129662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1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18647" y="2631630"/>
            <a:ext cx="1296628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just">
              <a:buNone/>
            </a:pPr>
            <a:endParaRPr lang="en-US" sz="950" dirty="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of delay = missed revenue, undetected fraud, unresolved failures</a:t>
            </a:r>
            <a:endParaRPr lang="en-US" sz="130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951435D3-0DE2-E7F2-0B10-70942B46944D}"/>
              </a:ext>
            </a:extLst>
          </p:cNvPr>
          <p:cNvSpPr/>
          <p:nvPr/>
        </p:nvSpPr>
        <p:spPr>
          <a:xfrm>
            <a:off x="3944075" y="1846659"/>
            <a:ext cx="1414846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BA12D76D-3A3C-949D-6CF4-30815B130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028" y="1946628"/>
            <a:ext cx="284850" cy="274320"/>
          </a:xfrm>
          <a:prstGeom prst="rect">
            <a:avLst/>
          </a:prstGeom>
        </p:spPr>
      </p:pic>
      <p:sp>
        <p:nvSpPr>
          <p:cNvPr id="39" name="Text 7">
            <a:extLst>
              <a:ext uri="{FF2B5EF4-FFF2-40B4-BE49-F238E27FC236}">
                <a16:creationId xmlns:a16="http://schemas.microsoft.com/office/drawing/2014/main" id="{321AEA5D-C426-6869-A760-C6E45B7F8D13}"/>
              </a:ext>
            </a:extLst>
          </p:cNvPr>
          <p:cNvSpPr/>
          <p:nvPr/>
        </p:nvSpPr>
        <p:spPr>
          <a:xfrm>
            <a:off x="4004583" y="2238008"/>
            <a:ext cx="129662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2</a:t>
            </a:r>
            <a:endParaRPr 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BC30DFD-1B8E-7B0F-7CC5-D387FA542FCC}"/>
              </a:ext>
            </a:extLst>
          </p:cNvPr>
          <p:cNvSpPr/>
          <p:nvPr/>
        </p:nvSpPr>
        <p:spPr>
          <a:xfrm>
            <a:off x="4004583" y="2649488"/>
            <a:ext cx="1296628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/>
            <a:r>
              <a:rPr lang="en-US" sz="95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Lack of Explainabl</a:t>
            </a:r>
            <a:r>
              <a:rPr lang="en-US" sz="9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e and Context-Aware Insights</a:t>
            </a:r>
            <a:endParaRPr lang="en-US" sz="95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A2993CCE-7587-E6E6-2A22-7D94BB45147A}"/>
              </a:ext>
            </a:extLst>
          </p:cNvPr>
          <p:cNvSpPr/>
          <p:nvPr/>
        </p:nvSpPr>
        <p:spPr>
          <a:xfrm>
            <a:off x="5756802" y="1846659"/>
            <a:ext cx="1414846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256D40C1-48B8-8FE5-CB10-01D71F4CD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755" y="1946628"/>
            <a:ext cx="284850" cy="274320"/>
          </a:xfrm>
          <a:prstGeom prst="rect">
            <a:avLst/>
          </a:prstGeom>
        </p:spPr>
      </p:pic>
      <p:sp>
        <p:nvSpPr>
          <p:cNvPr id="43" name="Text 7">
            <a:extLst>
              <a:ext uri="{FF2B5EF4-FFF2-40B4-BE49-F238E27FC236}">
                <a16:creationId xmlns:a16="http://schemas.microsoft.com/office/drawing/2014/main" id="{F1BFF404-23A6-56B9-52F1-E6D81F17EB23}"/>
              </a:ext>
            </a:extLst>
          </p:cNvPr>
          <p:cNvSpPr/>
          <p:nvPr/>
        </p:nvSpPr>
        <p:spPr>
          <a:xfrm>
            <a:off x="5817310" y="2238008"/>
            <a:ext cx="129662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GAP 3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65DFE263-6E18-79D5-9A9C-607201DE0A50}"/>
              </a:ext>
            </a:extLst>
          </p:cNvPr>
          <p:cNvSpPr/>
          <p:nvPr/>
        </p:nvSpPr>
        <p:spPr>
          <a:xfrm>
            <a:off x="5817310" y="2649488"/>
            <a:ext cx="1296628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/>
            <a:r>
              <a:rPr lang="en-US" sz="950">
                <a:solidFill>
                  <a:schemeClr val="bg2"/>
                </a:solidFill>
                <a:ea typeface="Calibri"/>
                <a:cs typeface="Calibri"/>
              </a:rPr>
              <a:t>Inconsistent Metric Definitions Across Teams</a:t>
            </a:r>
            <a:endParaRPr lang="en-US" sz="950" dirty="0">
              <a:solidFill>
                <a:schemeClr val="bg2"/>
              </a:solidFill>
              <a:ea typeface="Calibri"/>
              <a:cs typeface="Calibri"/>
            </a:endParaRP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D3D18FF9-FEE3-9346-62B6-8BAB0A53BF3F}"/>
              </a:ext>
            </a:extLst>
          </p:cNvPr>
          <p:cNvSpPr/>
          <p:nvPr/>
        </p:nvSpPr>
        <p:spPr>
          <a:xfrm>
            <a:off x="7471302" y="1846659"/>
            <a:ext cx="1414846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F3AA1808-5094-9A26-339C-4165EA9C1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255" y="1946628"/>
            <a:ext cx="284850" cy="274320"/>
          </a:xfrm>
          <a:prstGeom prst="rect">
            <a:avLst/>
          </a:prstGeom>
        </p:spPr>
      </p:pic>
      <p:sp>
        <p:nvSpPr>
          <p:cNvPr id="47" name="Text 7">
            <a:extLst>
              <a:ext uri="{FF2B5EF4-FFF2-40B4-BE49-F238E27FC236}">
                <a16:creationId xmlns:a16="http://schemas.microsoft.com/office/drawing/2014/main" id="{432F4EDE-F952-5CC0-E1E2-BB66B6241C4B}"/>
              </a:ext>
            </a:extLst>
          </p:cNvPr>
          <p:cNvSpPr/>
          <p:nvPr/>
        </p:nvSpPr>
        <p:spPr>
          <a:xfrm>
            <a:off x="7531810" y="2238008"/>
            <a:ext cx="129662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4</a:t>
            </a:r>
            <a:endParaRPr lang="en-US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531EFF73-39EF-E4FF-BFAA-BBEF0F0FCA8F}"/>
              </a:ext>
            </a:extLst>
          </p:cNvPr>
          <p:cNvSpPr/>
          <p:nvPr/>
        </p:nvSpPr>
        <p:spPr>
          <a:xfrm>
            <a:off x="7489161" y="2640959"/>
            <a:ext cx="1381926" cy="7059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dirty="0">
                <a:solidFill>
                  <a:schemeClr val="bg2"/>
                </a:solidFill>
                <a:ea typeface="Calibri"/>
                <a:cs typeface="Calibri"/>
              </a:rPr>
              <a:t>Insuffici</a:t>
            </a:r>
            <a:r>
              <a:rPr lang="en-US" sz="950">
                <a:solidFill>
                  <a:schemeClr val="bg2"/>
                </a:solidFill>
                <a:ea typeface="Calibri"/>
                <a:cs typeface="Calibri"/>
              </a:rPr>
              <a:t>ent Governance, Transparency, and Trust Controls</a:t>
            </a:r>
            <a:endParaRPr lang="en-US" sz="950" dirty="0">
              <a:solidFill>
                <a:schemeClr val="bg2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712263-5418-4B57-67C5-7573283870DB}"/>
              </a:ext>
            </a:extLst>
          </p:cNvPr>
          <p:cNvSpPr txBox="1"/>
          <p:nvPr/>
        </p:nvSpPr>
        <p:spPr>
          <a:xfrm>
            <a:off x="2304333" y="2760576"/>
            <a:ext cx="1082133" cy="5155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900">
                <a:solidFill>
                  <a:schemeClr val="bg2"/>
                </a:solidFill>
                <a:ea typeface="Calibri"/>
                <a:cs typeface="Calibri"/>
              </a:rPr>
              <a:t>Limited Analytics Accessibility and </a:t>
            </a:r>
            <a:r>
              <a:rPr lang="en-US" sz="950">
                <a:solidFill>
                  <a:schemeClr val="bg2"/>
                </a:solidFill>
                <a:ea typeface="Calibri"/>
                <a:cs typeface="Calibri"/>
              </a:rPr>
              <a:t>Turnaround</a:t>
            </a:r>
            <a:endParaRPr lang="en-US"/>
          </a:p>
        </p:txBody>
      </p:sp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61682" y="574987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businesses access instant,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analytics without depending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data teams?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82" y="2751259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27442" y="2723827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82" y="3208459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7442" y="3181027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82" y="3665659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27442" y="3638227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Business-context understanding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82" y="4122859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27442" y="4095427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DA6EC8-6C9D-73E7-996E-2F2C1B29A509}"/>
              </a:ext>
            </a:extLst>
          </p:cNvPr>
          <p:cNvGrpSpPr/>
          <p:nvPr/>
        </p:nvGrpSpPr>
        <p:grpSpPr>
          <a:xfrm>
            <a:off x="545153" y="645504"/>
            <a:ext cx="3200400" cy="4206240"/>
            <a:chOff x="5669280" y="548640"/>
            <a:chExt cx="3200400" cy="4206240"/>
          </a:xfrm>
        </p:grpSpPr>
        <p:sp>
          <p:nvSpPr>
            <p:cNvPr id="12" name="Shape 6"/>
            <p:cNvSpPr/>
            <p:nvPr/>
          </p:nvSpPr>
          <p:spPr>
            <a:xfrm>
              <a:off x="5669280" y="548640"/>
              <a:ext cx="3200400" cy="4206240"/>
            </a:xfrm>
            <a:prstGeom prst="rect">
              <a:avLst/>
            </a:prstGeom>
            <a:solidFill>
              <a:srgbClr val="0A1628"/>
            </a:solidFill>
            <a:ln w="12700">
              <a:solidFill>
                <a:srgbClr val="0A1628"/>
              </a:solidFill>
              <a:prstDash val="solid"/>
            </a:ln>
          </p:spPr>
        </p:sp>
        <p:sp>
          <p:nvSpPr>
            <p:cNvPr id="13" name="Text 7"/>
            <p:cNvSpPr/>
            <p:nvPr/>
          </p:nvSpPr>
          <p:spPr>
            <a:xfrm>
              <a:off x="5760720" y="640080"/>
              <a:ext cx="9144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0D948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“</a:t>
              </a:r>
              <a:endParaRPr lang="en-US" sz="520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5852160" y="1371600"/>
              <a:ext cx="283464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i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Can analytics be as simple as asking a question?</a:t>
              </a:r>
              <a:endParaRPr lang="en-US" sz="1800" dirty="0"/>
            </a:p>
          </p:txBody>
        </p:sp>
        <p:sp>
          <p:nvSpPr>
            <p:cNvPr id="15" name="Shape 9"/>
            <p:cNvSpPr/>
            <p:nvPr/>
          </p:nvSpPr>
          <p:spPr>
            <a:xfrm>
              <a:off x="5669280" y="4297680"/>
              <a:ext cx="320040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6" name="Text 10"/>
            <p:cNvSpPr/>
            <p:nvPr/>
          </p:nvSpPr>
          <p:spPr>
            <a:xfrm>
              <a:off x="5760720" y="4389120"/>
              <a:ext cx="3017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core challenge</a:t>
              </a:r>
              <a:endParaRPr lang="en-US" sz="100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028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AI-powered self-serve analytics enables conversational data </a:t>
            </a:r>
            <a:r>
              <a:rPr lang="en-US" sz="2600" b="1" dirty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exploration</a:t>
            </a:r>
            <a:endParaRPr lang="en-US" sz="26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933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success rate drop today?"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41148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7063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"Which tier has the highest average payment? "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846320" y="1737360"/>
            <a:ext cx="1965960" cy="12344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87452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46320" y="2542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SQL translation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949440" y="1737360"/>
            <a:ext cx="1965960" cy="12344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87452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Insights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949440" y="2542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 &amp; visualizations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846320" y="3200400"/>
            <a:ext cx="1965960" cy="12344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33756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4632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846320" y="40050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 root-cause analysis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6949440" y="3200400"/>
            <a:ext cx="1965960" cy="12344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33756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949440" y="40050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compliant outputs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combines AI understanding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autonomous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26517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7685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240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7121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 &amp; glossary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429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policies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108960" y="31089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29000" y="16916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29000" y="169164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42900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2768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engine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871216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6200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generator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46557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86200" y="3429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080760" y="31089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400800" y="16916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400800" y="169164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40080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76856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2240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&amp; visualizations</a:t>
            </a:r>
            <a:endParaRPr lang="en-US" sz="12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7121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58000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reasoning trace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900" b="1" kern="0" spc="300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25" name="Picture 24" descr="A diagram of a software flowchart&#10;&#10;AI-generated content may be incorrect.">
            <a:extLst>
              <a:ext uri="{FF2B5EF4-FFF2-40B4-BE49-F238E27FC236}">
                <a16:creationId xmlns:a16="http://schemas.microsoft.com/office/drawing/2014/main" id="{71C71471-E6ED-38D4-D68F-EB1F1902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2" r="744" b="440"/>
          <a:stretch>
            <a:fillRect/>
          </a:stretch>
        </p:blipFill>
        <p:spPr>
          <a:xfrm>
            <a:off x="1034556" y="685973"/>
            <a:ext cx="7073101" cy="40380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93FB2-D262-94B1-6ABD-8E91E5A0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9F64C6-780D-3EC7-3A44-6FE85B041692}"/>
              </a:ext>
            </a:extLst>
          </p:cNvPr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9E5434-3F01-BC3D-D1C9-4018D4485498}"/>
              </a:ext>
            </a:extLst>
          </p:cNvPr>
          <p:cNvSpPr/>
          <p:nvPr/>
        </p:nvSpPr>
        <p:spPr>
          <a:xfrm>
            <a:off x="457200" y="548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delivers intelligent analytics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traditional BI tools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F921E4-E507-F421-9DEE-AF161FD67A92}"/>
              </a:ext>
            </a:extLst>
          </p:cNvPr>
          <p:cNvSpPr/>
          <p:nvPr/>
        </p:nvSpPr>
        <p:spPr>
          <a:xfrm>
            <a:off x="365760" y="1828800"/>
            <a:ext cx="4023360" cy="1325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AFCABB-B2D1-08FC-25AA-747365CB00A8}"/>
              </a:ext>
            </a:extLst>
          </p:cNvPr>
          <p:cNvSpPr/>
          <p:nvPr/>
        </p:nvSpPr>
        <p:spPr>
          <a:xfrm>
            <a:off x="530352" y="2148840"/>
            <a:ext cx="594360" cy="59436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F19C76E-5AFE-2075-6650-144D37A0D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94560"/>
            <a:ext cx="502920" cy="5029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3AB61DE-839F-BBCA-E458-FB5050E663FE}"/>
              </a:ext>
            </a:extLst>
          </p:cNvPr>
          <p:cNvSpPr/>
          <p:nvPr/>
        </p:nvSpPr>
        <p:spPr>
          <a:xfrm>
            <a:off x="1261872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03EF32B-0922-AE70-A61F-57EFF5CFA709}"/>
              </a:ext>
            </a:extLst>
          </p:cNvPr>
          <p:cNvSpPr/>
          <p:nvPr/>
        </p:nvSpPr>
        <p:spPr>
          <a:xfrm>
            <a:off x="1261872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needed — ask in plain English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FB8D22C-5450-A969-3E31-ECCA678133F0}"/>
              </a:ext>
            </a:extLst>
          </p:cNvPr>
          <p:cNvSpPr/>
          <p:nvPr/>
        </p:nvSpPr>
        <p:spPr>
          <a:xfrm>
            <a:off x="4754880" y="1828800"/>
            <a:ext cx="4023360" cy="1325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07D4D6C-E078-42C7-07E7-F5212BB8CCEC}"/>
              </a:ext>
            </a:extLst>
          </p:cNvPr>
          <p:cNvSpPr/>
          <p:nvPr/>
        </p:nvSpPr>
        <p:spPr>
          <a:xfrm>
            <a:off x="4919472" y="2148840"/>
            <a:ext cx="594360" cy="59436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8CCF680B-B597-F60B-E185-9A6B00C8A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194560"/>
            <a:ext cx="502920" cy="50292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069DF952-C778-5362-798B-A74D2D57F743}"/>
              </a:ext>
            </a:extLst>
          </p:cNvPr>
          <p:cNvSpPr/>
          <p:nvPr/>
        </p:nvSpPr>
        <p:spPr>
          <a:xfrm>
            <a:off x="5650992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C245B7C-7D8F-3494-8DA2-13488F164B31}"/>
              </a:ext>
            </a:extLst>
          </p:cNvPr>
          <p:cNvSpPr/>
          <p:nvPr/>
        </p:nvSpPr>
        <p:spPr>
          <a:xfrm>
            <a:off x="5650992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investigation with hypothesis engine</a:t>
            </a:r>
            <a:endParaRPr lang="en-US" sz="11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40B8A3A-B1B9-7DFC-2ADE-E6A6E67A28E4}"/>
              </a:ext>
            </a:extLst>
          </p:cNvPr>
          <p:cNvSpPr/>
          <p:nvPr/>
        </p:nvSpPr>
        <p:spPr>
          <a:xfrm>
            <a:off x="365760" y="3383280"/>
            <a:ext cx="4023360" cy="1325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09C1737-553B-EAF7-79F1-B05601519C01}"/>
              </a:ext>
            </a:extLst>
          </p:cNvPr>
          <p:cNvSpPr/>
          <p:nvPr/>
        </p:nvSpPr>
        <p:spPr>
          <a:xfrm>
            <a:off x="530352" y="3703320"/>
            <a:ext cx="594360" cy="59436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E5B6C6B4-7FE2-9B1F-3F0F-890A76B2A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749040"/>
            <a:ext cx="502920" cy="50292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C3CE245E-6DA2-77CF-4BB7-13D877023A97}"/>
              </a:ext>
            </a:extLst>
          </p:cNvPr>
          <p:cNvSpPr/>
          <p:nvPr/>
        </p:nvSpPr>
        <p:spPr>
          <a:xfrm>
            <a:off x="1261872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F1C65E8-C0E4-4818-8D87-050575283F67}"/>
              </a:ext>
            </a:extLst>
          </p:cNvPr>
          <p:cNvSpPr/>
          <p:nvPr/>
        </p:nvSpPr>
        <p:spPr>
          <a:xfrm>
            <a:off x="1261872" y="3931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AI-generated insights from your data</a:t>
            </a:r>
            <a:endParaRPr lang="en-US" sz="11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2B5472A-1759-B93E-D17D-0F1CBDC1AAC9}"/>
              </a:ext>
            </a:extLst>
          </p:cNvPr>
          <p:cNvSpPr/>
          <p:nvPr/>
        </p:nvSpPr>
        <p:spPr>
          <a:xfrm>
            <a:off x="4754880" y="3383280"/>
            <a:ext cx="4023360" cy="1325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EDEC328D-0AEC-372D-B7D1-33EDC4B9FF74}"/>
              </a:ext>
            </a:extLst>
          </p:cNvPr>
          <p:cNvSpPr/>
          <p:nvPr/>
        </p:nvSpPr>
        <p:spPr>
          <a:xfrm>
            <a:off x="4919472" y="3703320"/>
            <a:ext cx="594360" cy="59436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E547F1B8-8B7F-C21A-769A-054FBCB7D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749040"/>
            <a:ext cx="502920" cy="502920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39D8BD83-65EF-4ED3-D117-DDAC2BB14B92}"/>
              </a:ext>
            </a:extLst>
          </p:cNvPr>
          <p:cNvSpPr/>
          <p:nvPr/>
        </p:nvSpPr>
        <p:spPr>
          <a:xfrm>
            <a:off x="5650992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4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E748105-1899-48DA-816C-57C2830AA727}"/>
              </a:ext>
            </a:extLst>
          </p:cNvPr>
          <p:cNvSpPr/>
          <p:nvPr/>
        </p:nvSpPr>
        <p:spPr>
          <a:xfrm>
            <a:off x="5650992" y="3931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trails, and explainable outputs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0646525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VERTICAL — PAYMENTS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 engine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9019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22128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identify root causes of payment failures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816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Insights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3127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gateway performance in real-time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7307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40416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into regional transaction patterns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760720" y="1554480"/>
            <a:ext cx="31089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85216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943600" y="2148840"/>
            <a:ext cx="2834640" cy="64008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>
                <a:alpha val="8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2148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Response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943600" y="2971800"/>
            <a:ext cx="2834640" cy="6400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43600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943600" y="3794760"/>
            <a:ext cx="2834640" cy="6400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Success Rates</a:t>
            </a:r>
            <a:endParaRPr lang="en-US" sz="1300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VERTICAL — BANKING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decision intelligence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173736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920240"/>
            <a:ext cx="640080" cy="64008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088" y="2034198"/>
            <a:ext cx="395104" cy="4206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971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pattern analysis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828800"/>
            <a:ext cx="2651760" cy="173736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1920240"/>
            <a:ext cx="640080" cy="64008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919" y="2034199"/>
            <a:ext cx="420692" cy="4036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Performance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46120" y="2971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 &amp; risk signals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828800"/>
            <a:ext cx="2651760" cy="173736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0" y="1920240"/>
            <a:ext cx="640080" cy="64008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749" y="2000079"/>
            <a:ext cx="429222" cy="42922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26480" y="2971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audit-ready reports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7764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outputs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7764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audit trails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7764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96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access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4864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Explainable outputs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33756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RBAC &amp; audit trails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12648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data access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turnaround time reduces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days to seconds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RESOLUTION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114300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114300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0" y="25146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sec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DEPENDENCY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29000" y="2240280"/>
            <a:ext cx="114300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114300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146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SPEED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2240280"/>
            <a:ext cx="114300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5080" y="25146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80960" y="2240280"/>
            <a:ext cx="114300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25146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1038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2960" y="43708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business decisions</a:t>
            </a:r>
            <a:endParaRPr lang="en-US" sz="11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510380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611880" y="43708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efficiency</a:t>
            </a:r>
            <a:endParaRPr lang="en-US" sz="11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510380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400800" y="43708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analytics access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031707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Unlike BI tools, the platform delivers autonomous, </a:t>
            </a:r>
            <a:b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context-aware analytics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Static dashboards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931920" cy="548640"/>
          </a:xfrm>
          <a:prstGeom prst="rect">
            <a:avLst/>
          </a:prstGeom>
          <a:solidFill>
            <a:srgbClr val="0D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23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analytics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423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User-driven insights</a:t>
            </a:r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governance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3611880"/>
            <a:ext cx="3931920" cy="548640"/>
          </a:xfrm>
          <a:prstGeom prst="rect">
            <a:avLst/>
          </a:prstGeom>
          <a:solidFill>
            <a:srgbClr val="0D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governance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3611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93192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Slow analysis</a:t>
            </a:r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3192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4206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explainability ensure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reliability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8404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SQL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51960" y="212140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828800"/>
            <a:ext cx="402336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116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&amp; query validation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65760" y="2606040"/>
            <a:ext cx="38404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889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51960" y="289864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754880" y="2606040"/>
            <a:ext cx="402336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743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data masking policies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365760" y="3383280"/>
            <a:ext cx="38404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661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68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Misinterpretation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251960" y="367588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754880" y="3383280"/>
            <a:ext cx="402336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6616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57800" y="35204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 &amp; context layer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365760" y="4160520"/>
            <a:ext cx="38404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43400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868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4251960" y="445312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754880" y="4160520"/>
            <a:ext cx="402336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343400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57800" y="4297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outputs with reasoning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PROGRAM VISION</a:t>
            </a: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3971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evolves toward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8550" y="2064906"/>
            <a:ext cx="786384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3102" y="1900314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790" y="2339226"/>
            <a:ext cx="2314217" cy="21031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790" y="2339226"/>
            <a:ext cx="2314217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790" y="2339226"/>
            <a:ext cx="2314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1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STATE 1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2790" y="2677554"/>
            <a:ext cx="231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4230" y="3186832"/>
            <a:ext cx="2095619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Understand data</a:t>
            </a:r>
            <a:endParaRPr lang="en-US" sz="1000">
              <a:ea typeface="Calibri"/>
              <a:cs typeface="Calibri"/>
            </a:endParaRPr>
          </a:p>
          <a:p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availability, quality, and</a:t>
            </a:r>
            <a:endParaRPr lang="en-US" sz="1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structure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9582" y="3669749"/>
            <a:ext cx="2095619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Problem Understan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ding, Gaps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08122" y="1864595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146" y="2303507"/>
            <a:ext cx="2287428" cy="21031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8146" y="2303507"/>
            <a:ext cx="228742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146" y="2303507"/>
            <a:ext cx="228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1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STATE 2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28146" y="2641835"/>
            <a:ext cx="228742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</a:t>
            </a: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37446" y="3035027"/>
            <a:ext cx="2077759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Build, Validate and Test Analytical Logic</a:t>
            </a:r>
            <a:endParaRPr lang="en-US" sz="1000" dirty="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37446" y="3634030"/>
            <a:ext cx="2077759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What affects outcomes, and does the analysis hold under testing?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53477" y="1819947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7783" y="2258859"/>
            <a:ext cx="2171342" cy="21031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7783" y="2258859"/>
            <a:ext cx="217134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7783" y="2597187"/>
            <a:ext cx="217134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ea typeface="Calibri"/>
                <a:cs typeface="Calibri"/>
              </a:rPr>
              <a:t>DFS</a:t>
            </a:r>
            <a:endParaRPr lang="en-US" sz="13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47082" y="3043957"/>
            <a:ext cx="1970603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Packaged, Decision-Ready 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Intelligence</a:t>
            </a:r>
            <a:endParaRPr lang="en-US" sz="1000" dirty="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47082" y="3571523"/>
            <a:ext cx="1970603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Deliver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Consumable, Trusted Insights for decisions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43498" y="2258859"/>
            <a:ext cx="21713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1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STATE 3</a:t>
            </a:r>
            <a:endParaRPr lang="en-US" sz="1000">
              <a:ea typeface="Calibri"/>
              <a:cs typeface="Calibri"/>
            </a:endParaRPr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190" y="1927746"/>
            <a:ext cx="457200" cy="36576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will transform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businesses interact with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103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404872"/>
            <a:ext cx="292608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2240280"/>
            <a:ext cx="2286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2103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182112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46120" y="3017520"/>
            <a:ext cx="2286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4612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832104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384048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future of analytics is intelligent conversations with data.”</a:t>
            </a:r>
            <a:endParaRPr lang="en-US" sz="16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AccentBoxVTI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Self-Serve Analytics</dc:title>
  <dc:subject>PptxGenJS Presentation</dc:subject>
  <dc:creator>PptxGenJS</dc:creator>
  <cp:lastModifiedBy>PptxGenJS</cp:lastModifiedBy>
  <cp:revision>245</cp:revision>
  <dcterms:created xsi:type="dcterms:W3CDTF">2026-05-10T06:23:11Z</dcterms:created>
  <dcterms:modified xsi:type="dcterms:W3CDTF">2026-05-27T06:06:16Z</dcterms:modified>
</cp:coreProperties>
</file>